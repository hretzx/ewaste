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03120"/>
            <a:ext cx="6400800" cy="6400800"/>
          </a:xfrm>
          <a:prstGeom prst="ellipse">
            <a:avLst/>
          </a:prstGeom>
          <a:solidFill>
            <a:srgbClr val="16382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3840480" cy="3840480"/>
          </a:xfrm>
          <a:prstGeom prst="ellipse">
            <a:avLst/>
          </a:prstGeom>
          <a:solidFill>
            <a:srgbClr val="16382A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100" kern="0" dirty="0">
                <a:solidFill>
                  <a:srgbClr val="F3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MIZORAM'S E-WASTE CHALLENGE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Remote Waste Problem into a Circular-Economy Opportunity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10058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e-waste generation, collection gaps, environmental risks and sustainable recycling opportunities in Mizoram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6382A">
              <a:alpha val="80000"/>
            </a:srgbClr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555040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5550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44752" y="525780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Generation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0" y="52578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6382A">
              <a:alpha val="80000"/>
            </a:srgbClr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555040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3639312" y="5550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96512" y="525780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Recycling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52578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6382A">
              <a:alpha val="80000"/>
            </a:srgbClr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555040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5550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48272" y="525780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Protection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52578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6382A">
              <a:alpha val="80000"/>
            </a:srgbClr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2832" y="555040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>
          <a:xfrm>
            <a:off x="8942832" y="5550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00032" y="525780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Economy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HAZARD &amp; THE OPPORTUNITY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Mizoram's growing e-waste stream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DEDE6"/>
          </a:solidFill>
          <a:ln w="12700">
            <a:solidFill>
              <a:srgbClr val="C162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THE HAZARD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7091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use of smartphones, computers, TVs and electronic appliances is increasing discarded electronics.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may contain hazardous substances such as lead, mercury and cadmium.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disposal and informal dismantling can pollute soil, water and air.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Mizoram's mountainous terrain and dispersed settlements make collection and transportation more difficult.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EAF2E7"/>
          </a:solidFill>
          <a:ln w="12700">
            <a:solidFill>
              <a:srgbClr val="7FA3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5544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♻  THE OPPORTUNITY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5080" y="2011680"/>
            <a:ext cx="47091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contains valuable materials such as copper, aluminium and recoverable precious metals.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and refurbishment can extend the life of electronic products.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collection can create green employment opportunities.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collection can connect remote areas with formal recycling systems.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7223760" cy="1051560"/>
          </a:xfrm>
          <a:prstGeom prst="roundRect">
            <a:avLst>
              <a:gd name="adj" fmla="val 6957"/>
            </a:avLst>
          </a:prstGeom>
          <a:solidFill>
            <a:srgbClr val="1F4D3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519379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Mizoram's challenge is not simply generating waste — it is building an efficient pathway to collect, recover and recycle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48006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E7E2D3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48646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119.42 TPD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92440" y="53218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received at Aizawl's waste centre in 2024–25, incl. 89.09 TPD dry waste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COLLECTION GAP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e-waste moves today — and where it breaks down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3816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7E2D3"/>
          </a:solidFill>
          <a:ln w="12700">
            <a:solidFill>
              <a:srgbClr val="B9B2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15270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05256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5256" y="23500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electronics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45536" y="17373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484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57016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7E2D3"/>
          </a:solidFill>
          <a:ln w="12700">
            <a:solidFill>
              <a:srgbClr val="B9B2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5270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48456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COLLECTION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48456" y="23500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collection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88736" y="17373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484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0216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DEDE6"/>
          </a:solidFill>
          <a:ln w="12700">
            <a:solidFill>
              <a:srgbClr val="C162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15270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91656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GAP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31936" y="17373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484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043416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7E2D3"/>
          </a:solidFill>
          <a:ln w="12700">
            <a:solidFill>
              <a:srgbClr val="B9B2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43416" y="15270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34856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RECYCLER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34856" y="23500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outside Mizoram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0632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INFRASTRUCTURE CHALLENGE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69494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Mizoram has no recycler, utilizer, captive utilizer, co-processor or TSDF reported by CPCB for hazardous-waste management.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hazardous-waste-generating units were recorded in 2023–24.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17 units (35.42%) submitted annual returns.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MT of hazardous waste was sent to other states.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30632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C1622D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32004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MT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955280" y="38404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waste sent outside Mizoram in 2023–24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F4D3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641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58704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strong local collection and aggregation, valuable materials leave Mizoram while disposal risks become harder to monitor.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16382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E-WASTE TO A CIRCULAR MIZORAM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16382A"/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67128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e-waste collection points in Aizawl and district centres.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90672" y="205740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A441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55264" y="11430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16382A"/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92424" y="169164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92424" y="2167128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92424" y="256032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e-waste from smaller towns and remote communities to regional collection hubs.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97296" y="205740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A44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61888" y="11430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16382A"/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99048" y="169164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99048" y="2167128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 &amp; RECOVER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99048" y="256032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priority: Repair → Refurbish → Component Recovery → Recycling.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205740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A441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668512" y="11430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16382A"/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05672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805672" y="169164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805672" y="2167128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RECYCLING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05672" y="256032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non-reusable e-waste to authorized recyclers, while developing the case for future regional recycling capacity.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C1622D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40965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LOCALLY. REPAIR WHAT CAN BE REPAIRED. RECOVER WHAT CAN BE RECOVERED. RECYCLE THE REST RESPONSIBLY.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6382A"/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303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♻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0080" y="566928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environmental leakage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52344" y="521208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6382A"/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52344" y="5303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843784" y="566928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of valuable materials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56048" y="521208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6382A"/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5303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👩‍💻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047488" y="566928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employment opportunities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59752" y="521208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6382A"/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9752" y="5303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251192" y="566928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communities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363456" y="521208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6382A"/>
          </a:solidFill>
          <a:ln w="12700">
            <a:solidFill>
              <a:srgbClr val="3E6E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63456" y="5303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454896" y="566928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economy for Mizoram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FC749BFE-C610-48B6-92B8-F0C984A5A33D}"/>
</file>

<file path=customXml/itemProps2.xml><?xml version="1.0" encoding="utf-8"?>
<ds:datastoreItem xmlns:ds="http://schemas.openxmlformats.org/officeDocument/2006/customXml" ds:itemID="{5904C21C-C97B-4CBD-995E-135FA4EC9490}"/>
</file>

<file path=customXml/itemProps3.xml><?xml version="1.0" encoding="utf-8"?>
<ds:datastoreItem xmlns:ds="http://schemas.openxmlformats.org/officeDocument/2006/customXml" ds:itemID="{F0C3A95E-3D19-4BBE-83AA-02F277C6A21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2026-08-11T03:04:30Z</dcterms:created>
  <dcterms:modified xsi:type="dcterms:W3CDTF">2026-08-11T03:04:30Z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