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F4438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566160"/>
            <a:ext cx="2926080" cy="2926080"/>
          </a:xfrm>
          <a:prstGeom prst="ellipse">
            <a:avLst/>
          </a:prstGeom>
          <a:solidFill>
            <a:srgbClr val="1F4438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2331720"/>
            <a:ext cx="1051560" cy="1051560"/>
          </a:xfrm>
          <a:prstGeom prst="ellipse">
            <a:avLst/>
          </a:prstGeom>
          <a:solidFill>
            <a:srgbClr val="C6FF6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CIRCULAR ECONOMY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589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Discarded Devices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Certified Value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B2B platform that manages the full e-waste lifecycle for companies, colleges, hospitals and government offices — from secure collection to certified recycling.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828800" cy="0"/>
          </a:xfrm>
          <a:prstGeom prst="line">
            <a:avLst/>
          </a:prstGeom>
          <a:noFill/>
          <a:ln w="25400">
            <a:solidFill>
              <a:srgbClr val="C6FF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24102C0068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Ghutukade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24102C0072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Sawant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24102C0073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Hritvi Narvekar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is piling up without a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large volumes of electronic waste but lack a transparent, systematic process for disposal — losing value and risking harm.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4ECE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3337560"/>
            <a:ext cx="128016" cy="128016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5661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Value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0233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devices and recoverable materials like copper and precious metals go to waste instead of being reclaimed.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11296" y="25146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4ECE6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12464" y="3337560"/>
            <a:ext cx="128016" cy="128016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35661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2464" y="40233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holding sensitive data are discarded without certified wiping, exposing organizations to breaches.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82512" y="25146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4ECE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83680" y="3337560"/>
            <a:ext cx="128016" cy="128016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5661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40233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disposal releases toxic materials into soil and water, causing lasting ecological damage.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53728" y="25146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4ECE6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54896" y="3337560"/>
            <a:ext cx="128016" cy="128016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23" name="Text 21"/>
          <p:cNvSpPr/>
          <p:nvPr/>
        </p:nvSpPr>
        <p:spPr>
          <a:xfrm>
            <a:off x="9454896" y="35661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54896" y="40233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tracking or certification, organizations cannot prove compliant, responsible disposal.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full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is scheduled, tracked, and routed to the right outcome — refurbishment or certified recycling — with a digital record at each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24912" y="2999232"/>
            <a:ext cx="82296" cy="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512064" cy="512064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pickup logs device type &amp; quantity from the client site.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2999232"/>
            <a:ext cx="82296" cy="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7208" y="2743200"/>
            <a:ext cx="512064" cy="512064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12" name="Text 10"/>
          <p:cNvSpPr/>
          <p:nvPr/>
        </p:nvSpPr>
        <p:spPr>
          <a:xfrm>
            <a:off x="2807208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07208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07208" y="3822192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Data-bearing devices undergo certified, secure wiping before processing.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9168" y="2999232"/>
            <a:ext cx="82296" cy="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74336" y="2743200"/>
            <a:ext cx="512064" cy="512064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17" name="Text 15"/>
          <p:cNvSpPr/>
          <p:nvPr/>
        </p:nvSpPr>
        <p:spPr>
          <a:xfrm>
            <a:off x="4974336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74336" y="3822192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identifies equipment fit for refurbishment vs. recycling.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26296" y="2999232"/>
            <a:ext cx="82296" cy="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1464" y="2743200"/>
            <a:ext cx="512064" cy="512064"/>
          </a:xfrm>
          <a:prstGeom prst="ellipse">
            <a:avLst/>
          </a:prstGeom>
          <a:solidFill>
            <a:srgbClr val="16302B"/>
          </a:solidFill>
          <a:ln/>
        </p:spPr>
      </p:sp>
      <p:sp>
        <p:nvSpPr>
          <p:cNvPr id="22" name="Text 20"/>
          <p:cNvSpPr/>
          <p:nvPr/>
        </p:nvSpPr>
        <p:spPr>
          <a:xfrm>
            <a:off x="7141464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41464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41464" y="3822192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units are sent to authorized, certified recyclers.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08592" y="2743200"/>
            <a:ext cx="512064" cy="512064"/>
          </a:xfrm>
          <a:prstGeom prst="ellipse">
            <a:avLst/>
          </a:prstGeom>
          <a:solidFill>
            <a:srgbClr val="C6FF6D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08592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08592" y="3822192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receives a digital certificate and sustainability report.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4ECE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8064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250" dirty="0">
                <a:solidFill>
                  <a:srgbClr val="5B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electronics are refurbished and resold; the rest is responsibly recycled with full traceability.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F44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F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the platform earns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95351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from organizations for lifecycle management.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5603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Fees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295351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charges based on quantity and location.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0144" y="196596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38744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38744" y="25603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Commission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8744" y="295351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of refurbished equipment sales.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Materials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48737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copper, aluminium &amp; precious metals.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5112" y="38862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53712" y="44805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53712" y="48737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sustainability and audit reporting.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0144" y="38862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F44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38744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38744" y="44805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8744" y="48737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Tie-ups with recyclers and manufacturers.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54671CA9-3908-4C25-990A-04BEB407C4E9}"/>
</file>

<file path=customXml/itemProps2.xml><?xml version="1.0" encoding="utf-8"?>
<ds:datastoreItem xmlns:ds="http://schemas.openxmlformats.org/officeDocument/2006/customXml" ds:itemID="{D020F0F4-E5E9-4A6F-82A7-3B96C2233BD1}"/>
</file>

<file path=customXml/itemProps3.xml><?xml version="1.0" encoding="utf-8"?>
<ds:datastoreItem xmlns:ds="http://schemas.openxmlformats.org/officeDocument/2006/customXml" ds:itemID="{70A4B5CE-3C94-445F-BC46-2D78F391CD3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2026-08-25T03:30:09Z</dcterms:created>
  <dcterms:modified xsi:type="dcterms:W3CDTF">2026-08-25T03:30:09Z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